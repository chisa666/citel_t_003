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47472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73E8"/>
                </a:solidFill>
              </a:defRPr>
            </a:pPr>
            <a:r>
              <a:t>数据查询与统计系统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0677B"/>
                </a:solidFill>
              </a:defRPr>
            </a:pPr>
            <a:r>
              <a:t>Travel Stats -- 基于SpringBoot + Vue3的Web数据统计分析平台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88"/>
                </a:solidFill>
              </a:defRPr>
            </a:pPr>
            <a:r>
              <a:t>CITEL-T-003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77B"/>
                </a:solidFill>
              </a:defRPr>
            </a:pPr>
            <a: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54864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项目概述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项目背景、目标与选题意义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79" y="1508760"/>
            <a:ext cx="54864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整体架构设计、技术选型与分层结构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799" y="1508760"/>
            <a:ext cx="54864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799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功能模块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五大核心模块的功能与实现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1508760"/>
            <a:ext cx="54864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关键技术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2860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多线程导入、Redis缓存、动态SQL等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49039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3886199"/>
            <a:ext cx="54864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31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9319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系统演示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634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核心功能界面与运行效果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39" y="3749039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11879" y="3886199"/>
            <a:ext cx="54864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79" y="3931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39319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困难与解决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599" y="46634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开发中遇到的问题及解决方案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749039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799" y="3886199"/>
            <a:ext cx="54864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799" y="3931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599" y="393191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</a:defRPr>
            </a:pPr>
            <a:r>
              <a:t>总结与展望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19" y="4663439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项目总结与未来改进方向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01  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</a:defRPr>
            </a:pPr>
            <a:r>
              <a:t>项目名称：数据查询与统计系统（Travel Stats）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项目背景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随着出行数据规模不断增长，如何高效地对海量人员出行数据进行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区间查询与统计分析成为重要需求。传统手工方式效率低、易出错，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急需一套自动化的数据查询与可视化统计平台。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项目目标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- 支持按年龄、里程、时间三个维度进行灵活的区间查询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- 提供柱状图、饼状图等可视化统计图表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- 支持大数据量的多线程并发导入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- 区间配置可保存、加载、复用</a:t>
            </a:r>
          </a:p>
          <a:p>
            <a:pPr>
              <a:spcAft>
                <a:spcPts val="800"/>
              </a:spcAft>
              <a:defRPr sz="1500">
                <a:solidFill>
                  <a:srgbClr val="2C3E50"/>
                </a:solidFill>
              </a:defRPr>
            </a:pPr>
            <a:r>
              <a:t>  - 查询结果Redis缓存，提升响应速度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核心数据字段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468880"/>
            <a:ext cx="14630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514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person_id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146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人员ID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2514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唯一标识人员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154680"/>
            <a:ext cx="14630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2004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gender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004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性别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200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0-女, 1-男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840480"/>
            <a:ext cx="14630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8862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birth_year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862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出生年份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8862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用于年龄计算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526280"/>
            <a:ext cx="14630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572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total_mileage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720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总旅行里程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572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累计飞行里程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5212080"/>
            <a:ext cx="14630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52578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total_travel_time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257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总旅行时间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5257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累计旅行分钟数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02 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B/S架构 - 前后端分离 - RESTful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1031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2011680" cy="64008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前端展示层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Vue 3 + Element Plus + ECharts</a:t>
            </a:r>
            <a:br/>
            <a:r>
              <a:t>路由: Vue Router</a:t>
            </a:r>
            <a:br/>
            <a:r>
              <a:t>HTTP: Axios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77B"/>
                </a:solidFill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920240"/>
            <a:ext cx="21031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965960"/>
            <a:ext cx="2011680" cy="64008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API网关/接口层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Spring Boot 3.2.5</a:t>
            </a:r>
            <a:br/>
            <a:r>
              <a:t>RESTful Controller</a:t>
            </a:r>
            <a:br/>
            <a:r>
              <a:t>CORS跨域配置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77B"/>
                </a:solidFill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920240"/>
            <a:ext cx="21031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965960"/>
            <a:ext cx="2011680" cy="64008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业务逻辑层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Service层 (查询/导入/配置)</a:t>
            </a:r>
            <a:br/>
            <a:r>
              <a:t>JUC线程池并发导入</a:t>
            </a:r>
            <a:br/>
            <a:r>
              <a:t>Redis缓存策略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77B"/>
                </a:solidFill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920240"/>
            <a:ext cx="21031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7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965960"/>
            <a:ext cx="2011680" cy="640080"/>
          </a:xfrm>
          <a:prstGeom prst="rect">
            <a:avLst/>
          </a:prstGeom>
          <a:solidFill>
            <a:srgbClr val="FF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数据访问层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74320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MyBatis-Plus ORM</a:t>
            </a:r>
            <a:br/>
            <a:r>
              <a:t>动态SQL区间查询</a:t>
            </a:r>
            <a:br/>
            <a:r>
              <a:t>分页插件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677B"/>
                </a:solidFill>
              </a:defRPr>
            </a:pPr>
            <a: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1920240"/>
            <a:ext cx="21031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965960"/>
            <a:ext cx="2011680" cy="64008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011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数据存储层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74320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MySQL 8.0 (主存储)</a:t>
            </a:r>
            <a:br/>
            <a:r>
              <a:t>Redis (查询缓存)</a:t>
            </a:r>
            <a:br/>
            <a:r>
              <a:t>H2 (开发测试)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677B"/>
                </a:solidFill>
              </a:defRPr>
            </a:pPr>
            <a:r>
              <a:t>请求流程: 用户操作 -&gt; Vue组件 -&gt; Axios请求 -&gt; Spring Controller -&gt; Service业务处理 -&gt; MyBatis-Plus查询MySQL -&gt; Redis缓存 -&gt; 返回JSON -&gt; ECharts渲染图表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02  技术选型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39496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后端技术栈 (Java 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Spring Boot 3.2.5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Web框架，自动配置，内嵌Tomcat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MyBatis-Plus 3.5.6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ORM框架，通用CRUD，分页插件，动态SQL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MySQL 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关系型数据库，InnoDB引擎，utf8mb4字符集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Redis + Lettuce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缓存中间件，查询结果缓存30分钟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JUC线程池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ThreadPoolExecutor + CountDownLatch并发导入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Spring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参数校验，@Valid注解驱动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Lombok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212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简化POJO，减少样板代码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  H2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内嵌数据库，开发/测试环境替代MySQL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234440"/>
            <a:ext cx="539496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前端技术栈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</a:defRPr>
            </a:pPr>
            <a:r>
              <a:t>  Vue 3 (Composition 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渐进式前端框架，script setup语法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</a:defRPr>
            </a:pPr>
            <a:r>
              <a:t>  Vite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新一代构建工具，极速HMR热更新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</a:defRPr>
            </a:pPr>
            <a:r>
              <a:t>  Element Plus 2.14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UI组件库，表格/表单/弹窗/菜单等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</a:defRPr>
            </a:pPr>
            <a:r>
              <a:t>  ECharts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数据可视化，柱状图/饼状图渲染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</a:defRPr>
            </a:pPr>
            <a:r>
              <a:t>  Vue Router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前端路由，Hash模式，懒加载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</a:defRPr>
            </a:pPr>
            <a:r>
              <a:t>  Axios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HTTP客户端，请求/响应拦截器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03  功能模块总览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394960" cy="5943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数据导入模块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898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DataImportController/Service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- 读取分号分隔的文本文件</a:t>
            </a:r>
            <a:br/>
            <a:r>
              <a:t>- JUC多线程并发批量入库</a:t>
            </a:r>
            <a:br/>
            <a:r>
              <a:t>- CountDownLatch同步等待</a:t>
            </a:r>
            <a:br/>
            <a:r>
              <a:t>- 导入结果统计(成功/失败)</a:t>
            </a:r>
            <a:br/>
            <a:r>
              <a:t>- 数据库状态实时查看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394960" cy="5943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查询统计模块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3898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QueryController/Service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- 年龄区间查询(允许重叠)</a:t>
            </a:r>
            <a:br/>
            <a:r>
              <a:t>- 里程区间查询(允许重叠)</a:t>
            </a:r>
            <a:br/>
            <a:r>
              <a:t>- 时间区间查询(不重叠)</a:t>
            </a:r>
            <a:br/>
            <a:r>
              <a:t>- 分页表格数据返回</a:t>
            </a:r>
            <a:br/>
            <a:r>
              <a:t>- 柱状图/饼状图统计数据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5394960" cy="59436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配置管理模块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330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RangeConfigController/Service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- 区间配置CRUD操作</a:t>
            </a:r>
            <a:br/>
            <a:r>
              <a:t>- 按类型筛选(AGE/MILEAGE/TIME)</a:t>
            </a:r>
            <a:br/>
            <a:r>
              <a:t>- JSON格式存储区间数据</a:t>
            </a:r>
            <a:br/>
            <a:r>
              <a:t>- 配置保存与加载复用</a:t>
            </a:r>
            <a:br/>
            <a:r>
              <a:t>- 配置删除确认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69080"/>
            <a:ext cx="5394960" cy="59436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通用基础模块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1330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common + 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- Result统一响应封装</a:t>
            </a:r>
            <a:br/>
            <a:r>
              <a:t>- GlobalExceptionHandler全局异常</a:t>
            </a:r>
            <a:br/>
            <a:r>
              <a:t>- BusinessException业务异常</a:t>
            </a:r>
            <a:br/>
            <a:r>
              <a:t>- CORS跨域配置</a:t>
            </a:r>
            <a:br/>
            <a:r>
              <a:t>- Redis序列化配置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03  数据导入模块 -- 多线程并发导入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</a:defRPr>
            </a:pPr>
            <a:r>
              <a:t>导入流程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4572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读取文件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77B"/>
                </a:solidFill>
              </a:defRPr>
            </a:pPr>
            <a:r>
              <a:t>BufferedReader逐行解析</a:t>
            </a:r>
            <a:br/>
            <a:r>
              <a:t>分号分隔: person_id;gender;</a:t>
            </a:r>
            <a:br/>
            <a:r>
              <a:t>birth_year;mileage;time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3E8"/>
                </a:solidFill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920240"/>
            <a:ext cx="4572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9385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分批处理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77B"/>
                </a:solidFill>
              </a:defRPr>
            </a:pPr>
            <a:r>
              <a:t>按BATCH_SIZE=500切分</a:t>
            </a:r>
            <a:br/>
            <a:r>
              <a:t>List.partition分批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3E8"/>
                </a:solidFill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4572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9385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并发入库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77B"/>
                </a:solidFill>
              </a:defRPr>
            </a:pPr>
            <a:r>
              <a:t>ThreadPoolExecutor提交</a:t>
            </a:r>
            <a:br/>
            <a:r>
              <a:t>CountDownLatch同步</a:t>
            </a:r>
            <a:br/>
            <a:r>
              <a:t>AtomicInteger计数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73E8"/>
                </a:solidFill>
              </a:defRPr>
            </a:pPr>
            <a: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82880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1920240"/>
            <a:ext cx="4572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9385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93852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</a:defRPr>
            </a:pPr>
            <a:r>
              <a:t>结果汇总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6888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77B"/>
                </a:solidFill>
              </a:defRPr>
            </a:pPr>
            <a:r>
              <a:t>成功/失败计数</a:t>
            </a:r>
            <a:br/>
            <a:r>
              <a:t>错误批次记录</a:t>
            </a:r>
            <a:br/>
            <a:r>
              <a:t>返回导入报告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11247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JUC核心组件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2011680" cy="292608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383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ThreadPoolExecutor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038344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核心4线程/最大8线程/队列10000/CallerRunsPolicy拒绝策略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76672"/>
            <a:ext cx="2011680" cy="292608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858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CountDownLatch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85816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批次计数器，每完成一个batch countdown一次，主线程await等待全部完成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724144"/>
            <a:ext cx="2011680" cy="292608"/>
          </a:xfrm>
          <a:prstGeom prst="round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7332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AtomicInteger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332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线程安全的成功/失败计数器，无锁CAS操作保证原子性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071616"/>
            <a:ext cx="2011680" cy="292608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080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synchronizedList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60807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Collections.synchronizedList包装错误列表，保证多线程安全写入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03  查询统计模块 -- 三维区间查询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5661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474720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年龄查询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A5F5"/>
                </a:solidFill>
              </a:defRPr>
            </a:pPr>
            <a:r>
              <a:t>POST /api/query/age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WHERE (YEAR(CURDATE()) - birth_year)</a:t>
            </a:r>
            <a:br/>
            <a:r>
              <a:t>BETWEEN min AND 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74720"/>
            <a:ext cx="329184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</a:defRPr>
            </a:pPr>
            <a:r>
              <a:t>特点: 允许区间重叠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5661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3474720" cy="54864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里程查询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</a:defRPr>
            </a:pPr>
            <a:r>
              <a:t>POST /api/query/mileage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WHERE total_mileage</a:t>
            </a:r>
            <a:br/>
            <a:r>
              <a:t>BETWEEN min AND max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474720"/>
            <a:ext cx="329184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</a:defRPr>
            </a:pPr>
            <a:r>
              <a:t>特点: 允许区间重叠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5661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325880"/>
            <a:ext cx="3474720" cy="54864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时间查询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A28"/>
                </a:solidFill>
              </a:defRPr>
            </a:pPr>
            <a:r>
              <a:t>POST /api/query/time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WHERE total_travel_time</a:t>
            </a:r>
            <a:br/>
            <a:r>
              <a:t>BETWEEN min AND max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474720"/>
            <a:ext cx="329184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73E8"/>
                </a:solidFill>
              </a:defRPr>
            </a:pPr>
            <a:r>
              <a:t>特点: 不允许重叠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11247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查询处理流程 (executeQuery通用方法)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1. 前端传入ranges区间列表 + page分页参数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4865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2. 转换为Mapper的QueryRangeItem参数对象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68112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3. 生成缓存Key -&gt; 尝试从Redis获取缓存结果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87568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4. 缓存未命中 -&gt; 执行数据查询(dataQuery) + 区间统计(countQuery)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07024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5. 内存分页: subList截取当前页数据 -&gt; 转换为Map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26480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6. 组装ChartData: categories(区间标签) + series(人数数据)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345936"/>
            <a:ext cx="10515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7. 写入Redis缓存(TTL=30分钟) -&gt; 返回QueryResult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03  配置管理模块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API接口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7315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39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/api/config/list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0391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获取所有区间配置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731520" cy="4114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91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79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/api/config/list/{type}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91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按类型获取配置(AGE/MILEAGE/TIME)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731520" cy="41148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192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192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/api/config/save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19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保存区间配置(JSON区间数据)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731520" cy="411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593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959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/api/config/{id}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9593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删除指定配置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280160"/>
            <a:ext cx="53035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数据库表设计 (query_range_config)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BIGINT AUTO_INCREMENT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自增主键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560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config_name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VARCHAR(100)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配置名称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108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query_type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VARCHAR(20)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AGE / MILEAGE /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6576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range_data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657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区间数据JSON数组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206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created_at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206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DATETIME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206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创建时间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754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73E8"/>
                </a:solidFill>
              </a:defRPr>
            </a:pPr>
            <a:r>
              <a:t>updated_at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DATETIME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47548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更新时间(自动)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3035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range_data示例:</a:t>
            </a:r>
            <a:br/>
            <a:r>
              <a:t>[{"label":"青年","min":20,"max":35},</a:t>
            </a:r>
            <a:br/>
            <a:r>
              <a:t> {"label":"中年","min":36,"max":55}]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04  关键技术 -- Redis缓存策略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缓存Key生成规则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</a:defRPr>
            </a:pPr>
            <a:r>
              <a:t>Key格式: query:{type}:{rangesHashCode}:{page}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677B"/>
                </a:solidFill>
              </a:defRPr>
            </a:pPr>
            <a:r>
              <a:t>示例: query:age:-12345678:1  --  相同查询类型+相同区间+相同页码 = 相同Key</a:t>
            </a:r>
            <a:br/>
            <a:r>
              <a:t>不同区间组合产生不同HashCode，确保缓存隔离；相同查询30分钟内直接命中缓存，无需访问数据库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缓存读取流程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1. 接收查询请求 -&gt; 生成CacheKey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2. redisTemplate.opsForValue().get(key)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3. 命中 -&gt; 直接返回缓存结果 (跳过DB查询)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4. 未命中 -&gt; 执行完整查询流程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5. 查询完成 -&gt; 写入Redis (TTL=30min)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6. 写入失败仅warn日志，不影响业务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Redis配置要点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4805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- 连接池: Lettuce (max-active=8, max-idle=8)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- Key序列化: StringRedisSerializer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- Value序列化: GenericJackson2JsonRedisSerializer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- 过期策略: 30分钟TTL自动过期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- 容错: 缓存写入失败不影响主流程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- 密码认证: password配置保证安全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04  关键技术 -- MyBatis动态SQL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数据查询 -- foreach +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SELECT * FROM person_travel_data</a:t>
            </a:r>
            <a:br/>
            <a:r>
              <a:t>WHERE</a:t>
            </a:r>
            <a:br/>
            <a:r>
              <a:t>  (</a:t>
            </a:r>
            <a:br/>
            <a:r>
              <a:t>    (YEAR(CURDATE()) - birth_year</a:t>
            </a:r>
            <a:br/>
            <a:r>
              <a:t>     BETWEEN #{range.min}</a:t>
            </a:r>
            <a:br/>
            <a:r>
              <a:t>     AND #{range.max})</a:t>
            </a:r>
            <a:br/>
            <a:r>
              <a:t>    OR</a:t>
            </a:r>
            <a:br/>
            <a:r>
              <a:t>    (YEAR(CURDATE()) - birth_year</a:t>
            </a:r>
            <a:br/>
            <a:r>
              <a:t>     BETWEEN #{range.min}</a:t>
            </a:r>
            <a:br/>
            <a:r>
              <a:t>     AND #{range.max})</a:t>
            </a:r>
            <a:br/>
            <a:r>
              <a:t>    ...</a:t>
            </a:r>
            <a:br/>
            <a:r>
              <a:t>  )</a:t>
            </a:r>
            <a:br/>
            <a:r>
              <a:t>ORDER BY person_id</a:t>
            </a:r>
            <a:br/>
            <a:br/>
            <a:r>
              <a:t>特点: foreach动态拼接OR条件</a:t>
            </a:r>
            <a:br/>
            <a:r>
              <a:t>      支持任意数量区间</a:t>
            </a:r>
            <a:br/>
            <a:r>
              <a:t>      允许区间重叠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</a:defRPr>
            </a:pPr>
            <a:r>
              <a:t>区间统计 -- UNION 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SELECT #{range.label} AS rangeLabel,</a:t>
            </a:r>
            <a:br/>
            <a:r>
              <a:t>       COUNT(*) AS personCount</a:t>
            </a:r>
            <a:br/>
            <a:r>
              <a:t>FROM person_travel_data</a:t>
            </a:r>
            <a:br/>
            <a:r>
              <a:t>WHERE (YEAR(CURDATE())-birth_year)</a:t>
            </a:r>
            <a:br/>
            <a:r>
              <a:t>      BETWEEN #{range.min}</a:t>
            </a:r>
            <a:br/>
            <a:r>
              <a:t>      AND #{range.max}</a:t>
            </a:r>
            <a:br/>
            <a:br/>
            <a:r>
              <a:t>UNION ALL</a:t>
            </a:r>
            <a:br/>
            <a:br/>
            <a:r>
              <a:t>SELECT #{range.label} AS rangeLabel,</a:t>
            </a:r>
            <a:br/>
            <a:r>
              <a:t>       COUNT(*) AS personCount</a:t>
            </a:r>
            <a:br/>
            <a:r>
              <a:t>FROM person_travel_data</a:t>
            </a:r>
            <a:br/>
            <a:r>
              <a:t>WHERE ...</a:t>
            </a:r>
            <a:br/>
            <a:br/>
            <a:r>
              <a:t>特点: 每个区间独立COUNT</a:t>
            </a:r>
            <a:br/>
            <a:r>
              <a:t>      UNION ALL合并结果</a:t>
            </a:r>
            <a:br/>
            <a:r>
              <a:t>      直接输出图表所需数据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05  前端架构与界面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页面路由结构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3716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DataImport.vue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57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数据导入页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3716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/query/age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AgeQuery.vue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年龄区间查询页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13716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375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/query/mileage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MileageQuery.vue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37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里程区间查询页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3716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77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/query/time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77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TimeQuery.vue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977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时间区间查询页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13716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73E8"/>
                </a:solidFill>
              </a:defRPr>
            </a:pPr>
            <a:r>
              <a:t>/config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ConfigManage.vue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77B"/>
                </a:solidFill>
              </a:defRPr>
            </a:pPr>
            <a:r>
              <a:t>区间配置管理页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677B"/>
                </a:solidFill>
              </a:defRPr>
            </a:pPr>
            <a:r>
              <a:t>组件: BarChart / PieChart / ResultTable</a:t>
            </a:r>
            <a:br/>
            <a:r>
              <a:t>API层: request.js -&gt; queryApi / dataApi / configApi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</a:defRPr>
            </a:pPr>
            <a:r>
              <a:t>查询页面交互流程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1. 用户在区间定义区添加/编辑区间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输入区间名称、最小值、最大值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支持动态增删区间行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2. 点击「查询」按钮发起请求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前端校验区间合法性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调用对应API (age/mileage/time)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3. 结果区展示两种视图: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数据列表: 分页表格 + 翻页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图表视图: 柱状图 / 饼状图 (ECharts)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4. 区间配置保存/加载: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保存: 输入名称 -&gt; JSON存入数据库</a:t>
            </a:r>
          </a:p>
          <a:p>
            <a:pPr>
              <a:spcAft>
                <a:spcPts val="200"/>
              </a:spcAft>
              <a:defRPr sz="1300">
                <a:solidFill>
                  <a:srgbClr val="2C3E50"/>
                </a:solidFill>
              </a:defRPr>
            </a:pPr>
            <a:r>
              <a:t>   - 加载: 选择已存配置 -&gt; 填充区间表单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06  困难与解决方案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大数据量导入性能瓶颈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</a:defRPr>
            </a:pPr>
            <a:r>
              <a:t>问题: 单线程逐条插入百万级数据耗时过长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3444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</a:defRPr>
            </a:pPr>
            <a:r>
              <a:t>解决: JUC多线程并发: ThreadPoolExecutor(4核心/8最大) + CountDownLatch同步 + 500条/批批量提交，导入速度提升数倍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37160" cy="914400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重复查询性能低下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</a:defRPr>
            </a:pPr>
            <a:r>
              <a:t>问题: 相同区间+页码的查询反复命中数据库，响应慢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</a:defRPr>
            </a:pPr>
            <a:r>
              <a:t>解决: Redis缓存策略: 按query:type:hash:page生成Key，30分钟TTL，命中缓存直接返回，未命中才查库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37160" cy="9144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动态区间SQL拼接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</a:defRPr>
            </a:pPr>
            <a:r>
              <a:t>问题: 区间数量不固定，传统硬编码SQL无法适配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42900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</a:defRPr>
            </a:pPr>
            <a:r>
              <a:t>解决: MyBatis foreach动态SQL: OR拼接数据查询 + UNION ALL拼接统计查询，支持任意数量区间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59"/>
            <a:ext cx="137160" cy="9144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5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ECharts隐藏Tab渲染异常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</a:defRPr>
            </a:pPr>
            <a:r>
              <a:t>问题: 图表在非激活Tab中初始化时容器宽高为0，渲染失败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526279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</a:defRPr>
            </a:pPr>
            <a:r>
              <a:t>解决: 延迟初始化 + Tab切换时手动调用resize() + 容器尺寸检测重试机制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77840"/>
            <a:ext cx="137160" cy="91440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</a:defRPr>
            </a:pPr>
            <a:r>
              <a:t>前后端跨域问题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74C3C"/>
                </a:solidFill>
              </a:defRPr>
            </a:pPr>
            <a:r>
              <a:t>问题: Vite开发服务器(5173)与SpringBoot(8080)端口不同，浏览器拦截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62356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</a:defRPr>
            </a:pPr>
            <a:r>
              <a:t>解决: 后端CorsFilter配置允许所有来源 + Vite代理配置，开发/生产环境均无跨域问题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07  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</a:defRPr>
            </a:pPr>
            <a:r>
              <a:t>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完成了数据查询与统计系统的全栈开发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后端: SpringBoot + MyBatis-Plus + Redis + JUC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前端: Vue3 + Element Plus + ECharts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实现了三维区间查询(年龄/里程/时间)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多线程并发导入，支持大数据量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Redis缓存提升查询响应速度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可视化图表(柱状图/饼状图)直观展示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区间配置可保存/加载/复用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统一异常处理与响应格式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</a:defRPr>
            </a:pPr>
            <a:r>
              <a:t>未来改进方向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用户认证与权限管理 (JWT/Security)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数据导入支持Excel/CSV多种格式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查询结果导出为Excel/PDF报告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更多图表类型(折线图/散点图/热力图)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数据库读写分离提升并发能力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消息队列异步处理导入任务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Docker容器化部署</a:t>
            </a:r>
          </a:p>
          <a:p>
            <a:pPr>
              <a:spcAft>
                <a:spcPts val="600"/>
              </a:spcAft>
              <a:defRPr sz="1500">
                <a:solidFill>
                  <a:srgbClr val="2C3E50"/>
                </a:solidFill>
              </a:defRPr>
            </a:pPr>
            <a:r>
              <a:t>-&gt; 前端国际化(i18n)支持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7589520" cy="3200400"/>
          </a:xfrm>
          <a:prstGeom prst="roundRect">
            <a:avLst/>
          </a:prstGeom>
          <a:solidFill>
            <a:srgbClr val="E8F0FE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0312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73E8"/>
                </a:solidFill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C3E50"/>
                </a:solidFill>
              </a:defRPr>
            </a:pPr>
            <a:r>
              <a:t>数据查询与统计系统 -- Travel 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840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0677B"/>
                </a:solidFill>
              </a:defRPr>
            </a:pPr>
            <a:r>
              <a:t>CITEL-T-003 | 2026年8月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